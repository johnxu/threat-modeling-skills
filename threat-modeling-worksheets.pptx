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B9F58-C42E-4747-8F34-FB28F9F982E9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95644-DE06-416A-B8CD-2FA789D3B7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91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715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353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95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57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932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801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505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876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73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305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417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95644-DE06-416A-B8CD-2FA789D3B7D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689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8735533" cy="16466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dirty="0"/>
              <a:t>Threat Modeling Worksheets</a:t>
            </a:r>
          </a:p>
          <a:p>
            <a:pPr>
              <a:defRPr sz="2000">
                <a:solidFill>
                  <a:srgbClr val="BDD7EE"/>
                </a:solidFill>
              </a:defRPr>
            </a:pPr>
            <a:r>
              <a:rPr dirty="0"/>
              <a:t>Seven methodologies, one toolbox: STRIDE · LINDDUN · PASTA · Attack Trees · DFD </a:t>
            </a:r>
            <a:endParaRPr lang="en-US" dirty="0"/>
          </a:p>
          <a:p>
            <a:pPr>
              <a:defRPr sz="2000">
                <a:solidFill>
                  <a:srgbClr val="BDD7EE"/>
                </a:solidFill>
              </a:defRPr>
            </a:pPr>
            <a:r>
              <a:rPr dirty="0"/>
              <a:t>· Trust Boundaries · Abuse Cases</a:t>
            </a:r>
          </a:p>
          <a:p>
            <a:pPr>
              <a:defRPr sz="1500">
                <a:solidFill>
                  <a:srgbClr val="8EAADB"/>
                </a:solidFill>
              </a:defRPr>
            </a:pPr>
            <a:r>
              <a:rPr dirty="0"/>
              <a:t>With pictures — what each one is, when to use it, and what to watch out 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The big picture — how the seven worksheets fit together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05840"/>
            <a:ext cx="9601200" cy="4992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Model first (DFD + trust boundaries) → enumerate threats (STRIDE / LINDDUN / attack trees / abuse cases) → prioritize by business risk (PASTA)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01 · STRIDE — per-component security threats</a:t>
            </a:r>
          </a:p>
        </p:txBody>
      </p:sp>
      <p:pic>
        <p:nvPicPr>
          <p:cNvPr id="3" name="Picture 2" descr="str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7307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How: for every DFD element (process, store, flow, external entity), walk all six categories and record threats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Each threat gets an entry: ID, likelihood, impact, existing controls, gaps, mitigation plan, owner, status</a:t>
            </a: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Best for: engineering design reviews — systematic coverage of generic systems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Pitfall: mechanical checkbox filling — “no threat here” without actually thinking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02 · LINDDUN — privacy threats to the data subject</a:t>
            </a:r>
          </a:p>
        </p:txBody>
      </p:sp>
      <p:pic>
        <p:nvPicPr>
          <p:cNvPr id="3" name="Picture 2" descr="lindd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511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Focus on the person whose data you hold, not the system owner — use when PII handling is core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Scope includes: personal data categories, lawful basis (GDPR), and who the data subjects are</a:t>
            </a: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t>The twist: Non-repudiation is a THREAT here — over-logging can destroy a user's ability to deny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t>Pitfall: quasi-identifiers (zip + birth date + gender) re-identify “anonymized”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55A11"/>
                </a:solidFill>
              </a:defRPr>
            </a:pPr>
            <a:r>
              <a:t>03 · PASTA — risk-centric, business-aligned, 7 stages</a:t>
            </a:r>
          </a:p>
        </p:txBody>
      </p:sp>
      <p:pic>
        <p:nvPicPr>
          <p:cNvPr id="3" name="Picture 2" descr="pa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1097280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" y="4956048"/>
            <a:ext cx="1124712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Starts from business objectives, ends with quantified residual risk and signed-off accepted risks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Uses threat actor profiles (MITRE ATT&amp;CK), CVE/SAST findings, and attack modeling to find chokepoints</a:t>
            </a:r>
          </a:p>
          <a:p>
            <a:pPr>
              <a:spcAft>
                <a:spcPts val="600"/>
              </a:spcAft>
              <a:defRPr sz="1600" b="1">
                <a:solidFill>
                  <a:srgbClr val="333333"/>
                </a:solidFill>
              </a:defRPr>
            </a:pPr>
            <a:r>
              <a:rPr dirty="0"/>
              <a:t>Best for: high-stakes systems where you need leadership to fund mitigations</a:t>
            </a:r>
          </a:p>
          <a:p>
            <a:pPr>
              <a:spcAft>
                <a:spcPts val="600"/>
              </a:spcAft>
              <a:defRPr sz="1600" b="0">
                <a:solidFill>
                  <a:srgbClr val="333333"/>
                </a:solidFill>
              </a:defRPr>
            </a:pPr>
            <a:r>
              <a:rPr dirty="0"/>
              <a:t>Pitfall: heavyweight — needs threat intel and cross-team time; overkill for a sprint review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0392B"/>
                </a:solidFill>
              </a:defRPr>
            </a:pPr>
            <a:r>
              <a:t>04 · Attack tree — decompose one attacker goal</a:t>
            </a:r>
          </a:p>
        </p:txBody>
      </p:sp>
      <p:pic>
        <p:nvPicPr>
          <p:cNvPr id="3" name="Picture 2" descr="attack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60120"/>
            <a:ext cx="10058400" cy="5431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Make the goal specific (“read credit card numbers”, not “compromise the system”) · chokepoints where paths converge are high-value to harden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B7950B"/>
                </a:solidFill>
              </a:defRPr>
            </a:pPr>
            <a:r>
              <a:t>05 · Data flow diagram — the foundation document</a:t>
            </a:r>
          </a:p>
        </p:txBody>
      </p:sp>
      <p:pic>
        <p:nvPicPr>
          <p:cNvPr id="3" name="Picture 2" descr="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960120"/>
            <a:ext cx="9601200" cy="4416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532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Level 0 (context) → Level 1 (major processes) → Level 2+ until each leaf is well-understood</a:t>
            </a: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Label every flow: data type, sensitivity, authentication, transport security — get this right and STRIDE/LINDDUN become tractable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8F77"/>
                </a:solidFill>
              </a:defRPr>
            </a:pPr>
            <a:r>
              <a:t>06 · Trust boundary — where the trust level changes</a:t>
            </a:r>
          </a:p>
        </p:txBody>
      </p:sp>
      <p:pic>
        <p:nvPicPr>
          <p:cNvPr id="3" name="Picture 2" descr="trust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60120"/>
            <a:ext cx="10058400" cy="4828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Per boundary, document: authN/authZ, input validation, encryption, logging — data trusted on one side must be re-validated on the other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48235"/>
                </a:solidFill>
              </a:defRPr>
            </a:pPr>
            <a:r>
              <a:t>07 · Abuse case — the evil twin of user stories</a:t>
            </a:r>
          </a:p>
        </p:txBody>
      </p:sp>
      <p:pic>
        <p:nvPicPr>
          <p:cNvPr id="3" name="Picture 2" descr="abuse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60120"/>
            <a:ext cx="10058400" cy="4828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Fits agile teams that already write user stories — write the abuse case next to the use case in the same design doc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t>Reusable patterns per feature type: registration (bot signup), login (credential stuffing, MFA fatigue), password reset (token reuse), search (resource exhaustion)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Which worksheet do I reach for?</a:t>
            </a:r>
          </a:p>
        </p:txBody>
      </p:sp>
      <p:pic>
        <p:nvPicPr>
          <p:cNvPr id="3" name="Picture 2" descr="p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005840"/>
            <a:ext cx="9601200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All seven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Worksheet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01 STRIDE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Security properties per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Threat list + mitigations per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Low–med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02 LINDDUN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Privacy of data subjects (GDPR)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Privacy threats mapped to 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03 PASTA</a:t>
                      </a:r>
                    </a:p>
                  </a:txBody>
                  <a:tcP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Business risk, attacker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Quantified, prioritized risk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04 Attack tree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One specific attacker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AND/OR paths + annotated leaves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Low–med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05 DFD</a:t>
                      </a:r>
                    </a:p>
                  </a:txBody>
                  <a:tcPr>
                    <a:solidFill>
                      <a:srgbClr val="B795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Modeling the system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Leveled diagrams + labeled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06 Trust boundary</a:t>
                      </a:r>
                    </a:p>
                  </a:txBody>
                  <a:tcPr>
                    <a:solidFill>
                      <a:srgbClr val="148F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Where trust levels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Per-boundary control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07 Abuse case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Hostile use of legitimate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Abuse cases beside user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/>
                      </a:pPr>
                      <a:r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3864"/>
                </a:solidFill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333333"/>
                </a:solidFill>
              </a:defRPr>
            </a:pPr>
            <a:r>
              <a:t>1. Always start with a DFD and trust boundaries — every other worksheet consumes them</a:t>
            </a:r>
          </a:p>
          <a:p>
            <a:pPr>
              <a:spcAft>
                <a:spcPts val="600"/>
              </a:spcAft>
              <a:defRPr sz="1900" b="1">
                <a:solidFill>
                  <a:srgbClr val="333333"/>
                </a:solidFill>
              </a:defRPr>
            </a:pPr>
            <a:r>
              <a:t>2. Pick the methodology that matches your question, not the most famous one</a:t>
            </a:r>
          </a:p>
          <a:p>
            <a:pPr lvl="1">
              <a:spcAft>
                <a:spcPts val="600"/>
              </a:spcAft>
              <a:defRPr sz="1700" b="0">
                <a:solidFill>
                  <a:srgbClr val="333333"/>
                </a:solidFill>
              </a:defRPr>
            </a:pPr>
            <a:r>
              <a:t>STRIDE for components · LINDDUN for privacy · attack trees for one bad outcome · abuse cases for agile teams · PASTA for funding decisions</a:t>
            </a:r>
          </a:p>
          <a:p>
            <a:pPr>
              <a:spcAft>
                <a:spcPts val="600"/>
              </a:spcAft>
              <a:defRPr sz="1900" b="1">
                <a:solidFill>
                  <a:srgbClr val="333333"/>
                </a:solidFill>
              </a:defRPr>
            </a:pPr>
            <a:r>
              <a:t>3. A threat without an owner, status, and mitigation plan is just a worry</a:t>
            </a:r>
          </a:p>
          <a:p>
            <a:pPr>
              <a:spcAft>
                <a:spcPts val="600"/>
              </a:spcAft>
              <a:defRPr sz="1900" b="1">
                <a:solidFill>
                  <a:srgbClr val="333333"/>
                </a:solidFill>
              </a:defRPr>
            </a:pPr>
            <a:r>
              <a:t>4. Worksheets don't prevent pitfalls — mechanical checkbox filling defeats all of them</a:t>
            </a:r>
          </a:p>
          <a:p>
            <a:pPr>
              <a:spcAft>
                <a:spcPts val="600"/>
              </a:spcAft>
              <a:defRPr sz="1900" b="1">
                <a:solidFill>
                  <a:srgbClr val="333333"/>
                </a:solidFill>
              </a:defRPr>
            </a:pPr>
            <a:r>
              <a:t>5. Revisit the model when the architecture changes — a threat model is a living document</a:t>
            </a:r>
          </a:p>
          <a:p>
            <a:pPr>
              <a:spcAft>
                <a:spcPts val="600"/>
              </a:spcAft>
              <a:defRPr sz="1900" b="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900" b="0">
                <a:solidFill>
                  <a:srgbClr val="333333"/>
                </a:solidFill>
              </a:defRPr>
            </a:pPr>
            <a:r>
              <a:t>Worked examples in this repo: web app · mobile app · ML pipeline · IaC pipeline · IoT 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755</Words>
  <Application>Microsoft Office PowerPoint</Application>
  <PresentationFormat>Widescreen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Xu, Baoping John (DNV External)</cp:lastModifiedBy>
  <cp:revision>3</cp:revision>
  <dcterms:created xsi:type="dcterms:W3CDTF">2013-01-27T09:14:16Z</dcterms:created>
  <dcterms:modified xsi:type="dcterms:W3CDTF">2026-08-26T07:32:31Z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