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0ED45-DFB3-487E-A748-540822F8CFD4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762834-7DA1-439F-B3AB-59DFF9884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435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62834-7DA1-439F-B3AB-59DFF98845C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056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62834-7DA1-439F-B3AB-59DFF98845C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1641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62834-7DA1-439F-B3AB-59DFF98845C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510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62834-7DA1-439F-B3AB-59DFF98845C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163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62834-7DA1-439F-B3AB-59DFF98845C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3776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62834-7DA1-439F-B3AB-59DFF98845C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7073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62834-7DA1-439F-B3AB-59DFF98845C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763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62834-7DA1-439F-B3AB-59DFF98845C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860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62834-7DA1-439F-B3AB-59DFF98845C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547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62834-7DA1-439F-B3AB-59DFF98845C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587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62834-7DA1-439F-B3AB-59DFF98845C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65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www-community/Threat_Modeling_Process" TargetMode="External"/><Relationship Id="rId2" Type="http://schemas.openxmlformats.org/officeDocument/2006/relationships/hyperlink" Target="https://learn.microsoft.com/en-us/azure/security/develop/threat-modeling-tool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ka.ms/threatmodelingtool" TargetMode="External"/><Relationship Id="rId4" Type="http://schemas.openxmlformats.org/officeDocument/2006/relationships/hyperlink" Target="https://owasp.org/www-project-threat-drag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Threat Modeling Methodologies</a:t>
            </a:r>
          </a:p>
          <a:p>
            <a:pPr>
              <a:defRPr sz="2200">
                <a:solidFill>
                  <a:srgbClr val="BDD7EE"/>
                </a:solidFill>
              </a:defRPr>
            </a:pPr>
            <a:r>
              <a:t>STRIDE vs LINDDUN vs PASTA — applied to a multi-tenant SaaS web app</a:t>
            </a:r>
          </a:p>
          <a:p>
            <a:pPr>
              <a:defRPr sz="1600">
                <a:solidFill>
                  <a:srgbClr val="8EAADB"/>
                </a:solidFill>
              </a:defRPr>
            </a:pPr>
            <a:r>
              <a:t>Case study: Worked Example 01 — Web Application (SaaS B2B)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864"/>
                </a:solidFill>
              </a:defRPr>
            </a:pPr>
            <a:r>
              <a:t>Our case study: a multi-tenant B2B SaaS web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rPr dirty="0"/>
              <a:t>React SPA on CloudFront · REST API in containers behind ALB · PostgreSQL + Redis + S3 · Stripe, SendGrid, Auth0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554480"/>
            <a:ext cx="10058400" cy="56327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Key trust boundaries: Internet↔Edge, VPC↔data stores, Tenant A↔Tenant B, user↔tenant admin↔internal staff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864"/>
                </a:solidFill>
              </a:defRPr>
            </a:pPr>
            <a:r>
              <a:rPr dirty="0"/>
              <a:t>Three lenses on the same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rPr dirty="0"/>
              <a:t>Threat modeling answers 4 questions: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rPr dirty="0"/>
              <a:t>What are we building?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rPr dirty="0"/>
              <a:t>What can go wrong?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rPr dirty="0"/>
              <a:t>What are we doing about it?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rPr dirty="0"/>
              <a:t>Did we do a good job?</a:t>
            </a:r>
          </a:p>
          <a:p>
            <a:pPr>
              <a:spcAft>
                <a:spcPts val="600"/>
              </a:spcAft>
              <a:defRPr sz="1800" b="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 b="1">
                <a:solidFill>
                  <a:srgbClr val="333333"/>
                </a:solidFill>
              </a:defRPr>
            </a:pPr>
            <a:r>
              <a:rPr dirty="0"/>
              <a:t>Different methodologies answer “what can go wrong?” differently: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rPr dirty="0"/>
              <a:t>STRIDE → security properties (attacker breaks CIA + AAA)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rPr dirty="0"/>
              <a:t>LINDDUN → privacy of data subjects (GDPR-style harms)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rPr dirty="0"/>
              <a:t>PASTA → business risk (what an attack costs us)</a:t>
            </a:r>
          </a:p>
        </p:txBody>
      </p:sp>
      <p:pic>
        <p:nvPicPr>
          <p:cNvPr id="4" name="Picture 3" descr="compare_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486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STRIDE — threat-centric, per-element security analysis</a:t>
            </a:r>
          </a:p>
        </p:txBody>
      </p:sp>
      <p:pic>
        <p:nvPicPr>
          <p:cNvPr id="3" name="Picture 2" descr="str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05840"/>
            <a:ext cx="10972800" cy="37307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Origin: Microsoft. Walk every DFD element / trust boundary and ask which of the 6 categories applies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Best for: engineering teams doing design reviews; systematic coverage of technical threats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Output: a threat list per component, each mapped to a mitigation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Limitation: says little about privacy harms or business impact — a “low severity” leak may still be a GDPR fine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STRIDE applied to our SaaS app (selected threats)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Threat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Mitigation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 — Spoofing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Internal staff impersonating users for “support”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SCIM-managed admin roles + audit of impersonation events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 — Tampering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Stripe webhook tampering; mass assignment on billing endpoints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Signature verification on every webhook; DTO allowlists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 — Repudiation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Tenant admin disputes deletion of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Immutable audit log + exports for tenant admins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 — Info disclosure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Cross-tenant data leakage via BOLA; leaked S3 export URLs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Postgres RLS + tenant_id checks + cross-tenant tests; signed URLs w/ 1h TTL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 — Denial of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Expensive search endpoint; account-creation flooding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Per-tenant rate limits, query timeouts, complexity scoring, captcha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 — Elevation of privilege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 self-promoting to tenant admin / staff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Strict RBAC; internal role only from internal IDP; approval flows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LINDDUN — privacy-centric threat modeling</a:t>
            </a:r>
          </a:p>
        </p:txBody>
      </p:sp>
      <p:pic>
        <p:nvPicPr>
          <p:cNvPr id="3" name="Picture 2" descr="lindd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05840"/>
            <a:ext cx="10972800" cy="35112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02336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Origin: KU Leuven. Focus on the data subject (the person), not the system owner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Best for: systems processing personal data; GDPR / privacy-by-design compliance work</a:t>
            </a:r>
          </a:p>
          <a:p>
            <a:pPr>
              <a:spcAft>
                <a:spcPts val="600"/>
              </a:spcAft>
              <a:defRPr sz="1500" b="1">
                <a:solidFill>
                  <a:srgbClr val="333333"/>
                </a:solidFill>
              </a:defRPr>
            </a:pPr>
            <a:r>
              <a:t>Note the twist: Non-repudiation is a THREAT here (users may need deniability) — the opposite of STRIDE’s R!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Output: privacy threats per data flow, mapped to privacy-enhancing technologies (PETs)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Limitation: doesn’t cover classic security attacks or business risk prioritization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LINDDUN applied to our SaaS app (privacy highlights)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</a:defRPr>
            </a:pPr>
            <a:r>
              <a:t>Linkability — same email in two tenants must NOT be linkable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Kept as separate accounts; the tenant boundary is the privacy boundary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</a:defRPr>
            </a:pPr>
            <a:r>
              <a:t>Identifiability — exports and logs can identify employees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Tenant-scoped exports only; audit who exported what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</a:defRPr>
            </a:pPr>
            <a:r>
              <a:t>Non-compliance — GDPR right to erasure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Tenant-scoped delete with cascade across Postgres, Redis, S3 and backups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</a:defRPr>
            </a:pPr>
            <a:r>
              <a:t>Disclosure of information — overlaps with STRIDE’s I, but viewed as harm to the person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Cross-tenant leakage (BOLA) is both a security bug AND a privacy breach requiring notification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</a:defRPr>
            </a:pPr>
            <a:r>
              <a:t>Unawareness — do employees know their employer’s admins can export their data?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Data-subject access requests supported via tenant data export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55A11"/>
                </a:solidFill>
              </a:defRPr>
            </a:pPr>
            <a:r>
              <a:t>PASTA — risk-centric, attacker-driven, business-aligned</a:t>
            </a:r>
          </a:p>
        </p:txBody>
      </p:sp>
      <p:pic>
        <p:nvPicPr>
          <p:cNvPr id="3" name="Picture 2" descr="pa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05840"/>
            <a:ext cx="10972800" cy="3950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2440" y="5079263"/>
            <a:ext cx="1124712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rPr dirty="0"/>
              <a:t>Origin: </a:t>
            </a:r>
            <a:r>
              <a:rPr dirty="0" err="1"/>
              <a:t>UcedaVélez</a:t>
            </a:r>
            <a:r>
              <a:rPr dirty="0"/>
              <a:t> &amp; Morana. Seven stages from business objectives to quantified residual risk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rPr dirty="0"/>
              <a:t>Best for: mature organizations; aligning security spend with business impact; compliance evidence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rPr dirty="0"/>
              <a:t>Uses attack simulation: model realistic attacker paths (attack trees), not just categories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rPr dirty="0"/>
              <a:t>Limitation: heavyweight — needs threat intel, risk data and cross-team time; overkill for a single sprint review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55A11"/>
                </a:solidFill>
              </a:defRPr>
            </a:pPr>
            <a:r>
              <a:t>PASTA applied to our SaaS app (stage walk-through)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33333"/>
                </a:solidFill>
              </a:defRPr>
            </a:pPr>
            <a:r>
              <a:t>1–2. Business objectives &amp; scope: multi-tenant trust is the product — one cross-tenant leak can kill enterprise sales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3. Decompose: the DFD + trust boundaries we already drew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4. Threat analysis: who attacks a B2B SaaS? Competitors, malicious tenants, disgruntled staff, ransomware crews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5. Vulnerability analysis: BOLA on admin endpoints (missed by tests!), staging webhook secret in repo, DBA-writable audit log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6. Attack modeling: malicious tenant admin → enumerate object IDs → cross-tenant read → mass data exfiltration</a:t>
            </a:r>
          </a:p>
          <a:p>
            <a:pPr>
              <a:spcAft>
                <a:spcPts val="600"/>
              </a:spcAft>
              <a:defRPr sz="1600" b="1">
                <a:solidFill>
                  <a:srgbClr val="333333"/>
                </a:solidFill>
              </a:defRPr>
            </a:pPr>
            <a:r>
              <a:t>7. Risk &amp; impact: leak = breach-notification cost + churn + lost enterprise deals → justifies the top-5 mitigation budget: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Automated cross-tenant BOLA regression tests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Short-lived DB credentials via Vault</a:t>
            </a:r>
          </a:p>
          <a:p>
            <a:pPr lvl="1"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Query complexity scoring · SCIM RBAC sync · signed-URL audit 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864"/>
                </a:solidFill>
              </a:defRPr>
            </a:pPr>
            <a:r>
              <a:t>STRIDE vs LINDDUN vs PASTA — side by side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5156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STRIDE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LINDDUN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PASTA</a:t>
                      </a:r>
                    </a:p>
                  </a:txBody>
                  <a:tcPr>
                    <a:solidFill>
                      <a:srgbClr val="C55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Security properties (CIA+AAA)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Privacy of data subjects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Business risk &amp; attacker simulation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Question asked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How can each component be attacked?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How can personal data be misused?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What would a real attack cost us?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Categories / stages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6 threat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7 privacy threat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7 process stages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Perspective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Defender /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Data subject (the person)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Attacker + business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Low–medium; per 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Medium; needs data-flow 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High; cross-team, needs threat intel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Best output for our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BOLA, webhook tampering,</a:t>
                      </a:r>
                    </a:p>
                    <a:p>
                      <a:r>
                        <a:t>rate-limit 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Tenant linkability, erasure,</a:t>
                      </a:r>
                    </a:p>
                    <a:p>
                      <a:r>
                        <a:t>export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Prioritized budget: which 5</a:t>
                      </a:r>
                    </a:p>
                    <a:p>
                      <a:r>
                        <a:t>mitigations to fund first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150" b="1"/>
                      </a:pPr>
                      <a:r>
                        <a:t>Use 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Designing/reviewing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Handling personal data / GDPR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/>
                      </a:pPr>
                      <a:r>
                        <a:t>Justifying security investment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864"/>
                </a:solidFill>
              </a:defRPr>
            </a:pPr>
            <a:r>
              <a:t>Takeaways — they complement, not compete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6766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</a:defRPr>
            </a:pPr>
            <a:r>
              <a:t>Same system, three different threat lists — none is “wrong”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STRIDE found BOLA &amp; webhook tampering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LINDDUN found tenant linkability &amp; erasure gaps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PASTA told us which fixes to fund first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</a:defRPr>
            </a:pPr>
            <a:r>
              <a:t>Practical recipe for a SaaS team: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STRIDE on every significant design change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LINDDUN pass whenever personal data flows change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PASTA-style risk review yearly / before big launches</a:t>
            </a:r>
          </a:p>
          <a:p>
            <a:pPr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</a:defRPr>
            </a:pPr>
            <a:r>
              <a:t>Pitfalls from the case study: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Cross-tenant tests only ran as standard user — admin endpoints missed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Correct webhook verification, but secret checked into repo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“Immutable” audit log was writable with DBA credentials</a:t>
            </a:r>
          </a:p>
        </p:txBody>
      </p:sp>
      <p:pic>
        <p:nvPicPr>
          <p:cNvPr id="4" name="Picture 3" descr="compare_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371600"/>
            <a:ext cx="45720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758E17-5FF6-3DE8-6328-5DABDF766211}"/>
              </a:ext>
            </a:extLst>
          </p:cNvPr>
          <p:cNvSpPr txBox="1"/>
          <p:nvPr/>
        </p:nvSpPr>
        <p:spPr>
          <a:xfrm>
            <a:off x="576072" y="1874520"/>
            <a:ext cx="6739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Microsoft Threat Modeling Tool overview - Azure | Microsoft Learn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24E5DC-08DA-ECAB-7418-5642C0808010}"/>
              </a:ext>
            </a:extLst>
          </p:cNvPr>
          <p:cNvSpPr txBox="1"/>
          <p:nvPr/>
        </p:nvSpPr>
        <p:spPr>
          <a:xfrm>
            <a:off x="576072" y="2721340"/>
            <a:ext cx="5610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Threat Modeling Process (Historical) | OWASP Foundation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80749-A083-FE1A-38C4-1A54CF89A4C7}"/>
              </a:ext>
            </a:extLst>
          </p:cNvPr>
          <p:cNvSpPr txBox="1"/>
          <p:nvPr/>
        </p:nvSpPr>
        <p:spPr>
          <a:xfrm>
            <a:off x="457200" y="228600"/>
            <a:ext cx="205376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864"/>
                </a:solidFill>
                <a:latin typeface="Microsoft YaHei"/>
              </a:defRPr>
            </a:pPr>
            <a:r>
              <a:rPr lang="en-US" dirty="0">
                <a:ea typeface="Microsoft YaHei"/>
              </a:rPr>
              <a:t>Appendix</a:t>
            </a:r>
            <a:endParaRPr dirty="0">
              <a:ea typeface="Microsoft YaHe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ABA02-22CF-BE67-8479-9A2A37AA6CF3}"/>
              </a:ext>
            </a:extLst>
          </p:cNvPr>
          <p:cNvSpPr txBox="1"/>
          <p:nvPr/>
        </p:nvSpPr>
        <p:spPr>
          <a:xfrm>
            <a:off x="658368" y="4407408"/>
            <a:ext cx="4322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OWASP Threat Dragon | OWASP Foundation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45EE07-7F4F-FC96-28B8-70011F603F62}"/>
              </a:ext>
            </a:extLst>
          </p:cNvPr>
          <p:cNvSpPr txBox="1"/>
          <p:nvPr/>
        </p:nvSpPr>
        <p:spPr>
          <a:xfrm>
            <a:off x="658368" y="3767329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5"/>
              </a:rPr>
              <a:t>Threat </a:t>
            </a:r>
            <a:r>
              <a:rPr lang="en-GB" dirty="0" err="1">
                <a:hlinkClick r:id="rId5"/>
              </a:rPr>
              <a:t>Modeling</a:t>
            </a:r>
            <a:r>
              <a:rPr lang="en-GB" dirty="0">
                <a:hlinkClick r:id="rId5"/>
              </a:rPr>
              <a:t> Tool</a:t>
            </a:r>
            <a:endParaRPr lang="en-GB" dirty="0"/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36CEB1-E797-D073-071F-9D48A1A50FD5}"/>
              </a:ext>
            </a:extLst>
          </p:cNvPr>
          <p:cNvSpPr txBox="1"/>
          <p:nvPr/>
        </p:nvSpPr>
        <p:spPr>
          <a:xfrm>
            <a:off x="576072" y="1505188"/>
            <a:ext cx="1320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Content link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E3CB3E-C9FF-73A0-5B1D-0577D33C8EC6}"/>
              </a:ext>
            </a:extLst>
          </p:cNvPr>
          <p:cNvSpPr txBox="1"/>
          <p:nvPr/>
        </p:nvSpPr>
        <p:spPr>
          <a:xfrm>
            <a:off x="658368" y="3361419"/>
            <a:ext cx="95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Tool link</a:t>
            </a:r>
          </a:p>
        </p:txBody>
      </p:sp>
    </p:spTree>
    <p:extLst>
      <p:ext uri="{BB962C8B-B14F-4D97-AF65-F5344CB8AC3E}">
        <p14:creationId xmlns:p14="http://schemas.microsoft.com/office/powerpoint/2010/main" val="695445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8141450-2387-4aca-b41f-19cd6be9dd3c}" enabled="1" method="Standard" siteId="{adf10e2b-b6e9-41d6-be2f-c12bb566019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1106</Words>
  <Application>Microsoft Office PowerPoint</Application>
  <PresentationFormat>Widescreen</PresentationFormat>
  <Paragraphs>144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Microsoft YaHei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Xu, Baoping John (DNV External)</cp:lastModifiedBy>
  <cp:revision>4</cp:revision>
  <dcterms:created xsi:type="dcterms:W3CDTF">2013-01-27T09:14:16Z</dcterms:created>
  <dcterms:modified xsi:type="dcterms:W3CDTF">2026-08-24T09:27:05Z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nfoFinished">
    <vt:lpwstr>True</vt:lpwstr>
  </property>
</Properties>
</file>